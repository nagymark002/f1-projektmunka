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7" r:id="rId4"/>
    <p:sldId id="259" r:id="rId5"/>
    <p:sldId id="263" r:id="rId6"/>
    <p:sldId id="261" r:id="rId7"/>
    <p:sldId id="258" r:id="rId8"/>
    <p:sldId id="264" r:id="rId9"/>
    <p:sldId id="265" r:id="rId10"/>
  </p:sldIdLst>
  <p:sldSz cx="18288000" cy="10287000"/>
  <p:notesSz cx="6858000" cy="9144000"/>
  <p:embeddedFontLst>
    <p:embeddedFont>
      <p:font typeface="Anantason Bold Italics" panose="020B0604020202020204" charset="-34"/>
      <p:regular r:id="rId11"/>
    </p:embeddedFont>
    <p:embeddedFont>
      <p:font typeface="Okomito Light" panose="020B0604020202020204" charset="-18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5699110"/>
            <a:ext cx="7768309" cy="703226"/>
            <a:chOff x="0" y="0"/>
            <a:chExt cx="5622977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22977" cy="609600"/>
            </a:xfrm>
            <a:custGeom>
              <a:avLst/>
              <a:gdLst/>
              <a:ahLst/>
              <a:cxnLst/>
              <a:rect l="l" t="t" r="r" b="b"/>
              <a:pathLst>
                <a:path w="5622977" h="609600">
                  <a:moveTo>
                    <a:pt x="203200" y="0"/>
                  </a:moveTo>
                  <a:lnTo>
                    <a:pt x="5622977" y="0"/>
                  </a:lnTo>
                  <a:lnTo>
                    <a:pt x="541977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E10000">
                    <a:alpha val="100000"/>
                  </a:srgbClr>
                </a:gs>
                <a:gs pos="50000">
                  <a:srgbClr val="E10000">
                    <a:alpha val="100000"/>
                  </a:srgbClr>
                </a:gs>
                <a:gs pos="100000">
                  <a:srgbClr val="3D0000">
                    <a:alpha val="100000"/>
                  </a:srgbClr>
                </a:gs>
              </a:gsLst>
              <a:lin ang="0"/>
            </a:gradFill>
            <a:ln w="28575" cap="sq">
              <a:solidFill>
                <a:srgbClr val="D3101F"/>
              </a:solidFill>
              <a:prstDash val="solid"/>
              <a:miter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5419777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35395" y="2953365"/>
            <a:ext cx="7194867" cy="253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9"/>
              </a:lnSpc>
            </a:pPr>
            <a:r>
              <a:rPr lang="hu-HU" sz="9801" b="1" i="1" dirty="0">
                <a:solidFill>
                  <a:srgbClr val="191414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FORMULA 1</a:t>
            </a:r>
            <a:endParaRPr lang="en-US" sz="9801" b="1" i="1" dirty="0">
              <a:solidFill>
                <a:srgbClr val="191414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  <a:p>
            <a:pPr algn="l">
              <a:lnSpc>
                <a:spcPts val="9899"/>
              </a:lnSpc>
            </a:pPr>
            <a:r>
              <a:rPr lang="hu-HU" sz="6600" b="1" i="1" dirty="0">
                <a:solidFill>
                  <a:srgbClr val="C00000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PROJEKTMUNKA</a:t>
            </a:r>
            <a:endParaRPr lang="en-US" sz="6600" b="1" i="1" dirty="0">
              <a:solidFill>
                <a:srgbClr val="C00000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79092" y="6001807"/>
            <a:ext cx="7086523" cy="284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9"/>
              </a:lnSpc>
              <a:spcBef>
                <a:spcPct val="0"/>
              </a:spcBef>
            </a:pPr>
            <a:r>
              <a:rPr lang="hu-HU" sz="2400" b="1" i="1" dirty="0">
                <a:solidFill>
                  <a:srgbClr val="FFFFFF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Kovács Piroska Luca, Gáspár Benedek, Nagy Márk</a:t>
            </a:r>
            <a:endParaRPr lang="en-US" sz="2400" b="1" i="1" dirty="0">
              <a:solidFill>
                <a:srgbClr val="FFFFFF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9837482" y="8354895"/>
            <a:ext cx="6292805" cy="1932105"/>
            <a:chOff x="0" y="0"/>
            <a:chExt cx="1738309" cy="5337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38309" cy="533720"/>
            </a:xfrm>
            <a:custGeom>
              <a:avLst/>
              <a:gdLst/>
              <a:ahLst/>
              <a:cxnLst/>
              <a:rect l="l" t="t" r="r" b="b"/>
              <a:pathLst>
                <a:path w="1738309" h="533720">
                  <a:moveTo>
                    <a:pt x="0" y="0"/>
                  </a:moveTo>
                  <a:lnTo>
                    <a:pt x="1738309" y="0"/>
                  </a:lnTo>
                  <a:lnTo>
                    <a:pt x="1738309" y="533720"/>
                  </a:lnTo>
                  <a:lnTo>
                    <a:pt x="0" y="533720"/>
                  </a:lnTo>
                  <a:close/>
                </a:path>
              </a:pathLst>
            </a:custGeom>
            <a:solidFill>
              <a:srgbClr val="D3101F"/>
            </a:solidFill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38309" cy="57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>
            <a:off x="9837482" y="2217369"/>
            <a:ext cx="6292805" cy="6292805"/>
          </a:xfrm>
          <a:custGeom>
            <a:avLst/>
            <a:gdLst/>
            <a:ahLst/>
            <a:cxnLst/>
            <a:rect l="l" t="t" r="r" b="b"/>
            <a:pathLst>
              <a:path w="6292805" h="6292805">
                <a:moveTo>
                  <a:pt x="0" y="0"/>
                </a:moveTo>
                <a:lnTo>
                  <a:pt x="6292805" y="0"/>
                </a:lnTo>
                <a:lnTo>
                  <a:pt x="6292805" y="6292805"/>
                </a:lnTo>
                <a:lnTo>
                  <a:pt x="0" y="6292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u-HU"/>
          </a:p>
        </p:txBody>
      </p:sp>
      <p:pic>
        <p:nvPicPr>
          <p:cNvPr id="1026" name="Picture 2" descr="Download Classic Red Ferrari F1 Racer | Wallpapers.com">
            <a:extLst>
              <a:ext uri="{FF2B5EF4-FFF2-40B4-BE49-F238E27FC236}">
                <a16:creationId xmlns:a16="http://schemas.microsoft.com/office/drawing/2014/main" id="{E3A39306-7E15-BD1F-D16B-AE1773334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262" y="4762500"/>
            <a:ext cx="9086561" cy="6214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AE0F9-3F05-6563-5488-91DF7F0B7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5AAFEFBF-D057-F7BE-C297-4A3D727CDFBC}"/>
              </a:ext>
            </a:extLst>
          </p:cNvPr>
          <p:cNvSpPr txBox="1"/>
          <p:nvPr/>
        </p:nvSpPr>
        <p:spPr>
          <a:xfrm>
            <a:off x="914400" y="1333500"/>
            <a:ext cx="6510842" cy="101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hu-HU" sz="7499" b="1" i="1" dirty="0">
                <a:solidFill>
                  <a:srgbClr val="191414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BEVEZETÉS</a:t>
            </a:r>
            <a:endParaRPr lang="en-US" sz="7499" b="1" i="1" dirty="0">
              <a:solidFill>
                <a:srgbClr val="191414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D17011-4930-C991-6B81-3F1ED215A63D}"/>
              </a:ext>
            </a:extLst>
          </p:cNvPr>
          <p:cNvSpPr txBox="1"/>
          <p:nvPr/>
        </p:nvSpPr>
        <p:spPr>
          <a:xfrm>
            <a:off x="1046991" y="3467100"/>
            <a:ext cx="10165295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Weboldal</a:t>
            </a:r>
            <a:r>
              <a:rPr lang="en-US" sz="3600" dirty="0">
                <a:latin typeface="Okomito Light" panose="020B0604020202020204" charset="-18"/>
              </a:rPr>
              <a:t> </a:t>
            </a:r>
            <a:r>
              <a:rPr lang="en-US" sz="3600" dirty="0" err="1">
                <a:latin typeface="Okomito Light" panose="020B0604020202020204" charset="-18"/>
              </a:rPr>
              <a:t>témája</a:t>
            </a:r>
            <a:r>
              <a:rPr lang="en-US" sz="3600" dirty="0">
                <a:latin typeface="Okomito Light" panose="020B0604020202020204" charset="-18"/>
              </a:rPr>
              <a:t>: Formula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Követelmények</a:t>
            </a:r>
            <a:r>
              <a:rPr lang="en-US" sz="3600" dirty="0">
                <a:latin typeface="Okomito Light" panose="020B0604020202020204" charset="-18"/>
              </a:rPr>
              <a:t>: HTML, CSS, JS, </a:t>
            </a:r>
            <a:r>
              <a:rPr lang="en-US" sz="3600" dirty="0" err="1">
                <a:latin typeface="Okomito Light" panose="020B0604020202020204" charset="-18"/>
              </a:rPr>
              <a:t>képek</a:t>
            </a:r>
            <a:endParaRPr lang="en-US" sz="3600" dirty="0">
              <a:latin typeface="Okomito Light" panose="020B0604020202020204" charset="-1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latin typeface="Okomito Light" panose="020B0604020202020204" charset="-18"/>
              </a:rPr>
              <a:t>A </a:t>
            </a:r>
            <a:r>
              <a:rPr lang="en-US" sz="3600" dirty="0" err="1">
                <a:latin typeface="Okomito Light" panose="020B0604020202020204" charset="-18"/>
              </a:rPr>
              <a:t>projekt</a:t>
            </a:r>
            <a:r>
              <a:rPr lang="en-US" sz="3600" dirty="0">
                <a:latin typeface="Okomito Light" panose="020B0604020202020204" charset="-18"/>
              </a:rPr>
              <a:t> </a:t>
            </a:r>
            <a:r>
              <a:rPr lang="en-US" sz="3600" dirty="0" err="1">
                <a:latin typeface="Okomito Light" panose="020B0604020202020204" charset="-18"/>
              </a:rPr>
              <a:t>célja</a:t>
            </a:r>
            <a:r>
              <a:rPr lang="en-US" sz="3600" dirty="0">
                <a:latin typeface="Okomito Light" panose="020B0604020202020204" charset="-18"/>
              </a:rPr>
              <a:t>: </a:t>
            </a:r>
            <a:r>
              <a:rPr lang="en-US" sz="3600" dirty="0" err="1">
                <a:latin typeface="Okomito Light" panose="020B0604020202020204" charset="-18"/>
              </a:rPr>
              <a:t>információk</a:t>
            </a:r>
            <a:r>
              <a:rPr lang="en-US" sz="3600" dirty="0">
                <a:latin typeface="Okomito Light" panose="020B0604020202020204" charset="-18"/>
              </a:rPr>
              <a:t> </a:t>
            </a:r>
            <a:r>
              <a:rPr lang="en-US" sz="3600" dirty="0" err="1">
                <a:latin typeface="Okomito Light" panose="020B0604020202020204" charset="-18"/>
              </a:rPr>
              <a:t>bemutatása</a:t>
            </a:r>
            <a:r>
              <a:rPr lang="en-US" sz="3600" dirty="0">
                <a:latin typeface="Okomito Light" panose="020B0604020202020204" charset="-18"/>
              </a:rPr>
              <a:t>, </a:t>
            </a:r>
            <a:r>
              <a:rPr lang="en-US" sz="3600" dirty="0" err="1">
                <a:latin typeface="Okomito Light" panose="020B0604020202020204" charset="-18"/>
              </a:rPr>
              <a:t>interaktív</a:t>
            </a:r>
            <a:r>
              <a:rPr lang="en-US" sz="3600" dirty="0">
                <a:latin typeface="Okomito Light" panose="020B0604020202020204" charset="-18"/>
              </a:rPr>
              <a:t> </a:t>
            </a:r>
            <a:r>
              <a:rPr lang="en-US" sz="3600" dirty="0" err="1">
                <a:latin typeface="Okomito Light" panose="020B0604020202020204" charset="-18"/>
              </a:rPr>
              <a:t>teszt</a:t>
            </a:r>
            <a:r>
              <a:rPr lang="en-US" sz="3600" dirty="0">
                <a:latin typeface="Okomito Light" panose="020B0604020202020204" charset="-18"/>
              </a:rPr>
              <a:t>, </a:t>
            </a:r>
            <a:r>
              <a:rPr lang="en-US" sz="3600" dirty="0" err="1">
                <a:latin typeface="Okomito Light" panose="020B0604020202020204" charset="-18"/>
              </a:rPr>
              <a:t>felhasználóbarát</a:t>
            </a:r>
            <a:r>
              <a:rPr lang="en-US" sz="3600" dirty="0">
                <a:latin typeface="Okomito Light" panose="020B0604020202020204" charset="-18"/>
              </a:rPr>
              <a:t> </a:t>
            </a:r>
            <a:r>
              <a:rPr lang="en-US" sz="3600" dirty="0" err="1">
                <a:latin typeface="Okomito Light" panose="020B0604020202020204" charset="-18"/>
              </a:rPr>
              <a:t>felépítés</a:t>
            </a:r>
            <a:endParaRPr lang="en-US" sz="3600" dirty="0">
              <a:latin typeface="Okomito Light" panose="020B0604020202020204" charset="-18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A0B3B09-8E92-9FDC-81E0-E9DF21C2A0D5}"/>
              </a:ext>
            </a:extLst>
          </p:cNvPr>
          <p:cNvSpPr/>
          <p:nvPr/>
        </p:nvSpPr>
        <p:spPr>
          <a:xfrm>
            <a:off x="-304800" y="2781300"/>
            <a:ext cx="2681811" cy="0"/>
          </a:xfrm>
          <a:prstGeom prst="line">
            <a:avLst/>
          </a:prstGeom>
          <a:ln w="28575" cap="flat">
            <a:solidFill>
              <a:srgbClr val="D310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8133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028700" y="3305862"/>
            <a:ext cx="6981138" cy="6981138"/>
          </a:xfrm>
          <a:custGeom>
            <a:avLst/>
            <a:gdLst/>
            <a:ahLst/>
            <a:cxnLst/>
            <a:rect l="l" t="t" r="r" b="b"/>
            <a:pathLst>
              <a:path w="6981138" h="6981138">
                <a:moveTo>
                  <a:pt x="0" y="0"/>
                </a:moveTo>
                <a:lnTo>
                  <a:pt x="6981138" y="0"/>
                </a:lnTo>
                <a:lnTo>
                  <a:pt x="6981138" y="6981138"/>
                </a:lnTo>
                <a:lnTo>
                  <a:pt x="0" y="69811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u-HU"/>
          </a:p>
        </p:txBody>
      </p:sp>
      <p:sp>
        <p:nvSpPr>
          <p:cNvPr id="8" name="TextBox 8"/>
          <p:cNvSpPr txBox="1"/>
          <p:nvPr/>
        </p:nvSpPr>
        <p:spPr>
          <a:xfrm>
            <a:off x="10398667" y="2409140"/>
            <a:ext cx="6510842" cy="101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hu-HU" sz="7499" b="1" i="1" dirty="0">
                <a:solidFill>
                  <a:srgbClr val="191414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TERVEINK</a:t>
            </a:r>
            <a:endParaRPr lang="en-US" sz="7499" b="1" i="1" dirty="0">
              <a:solidFill>
                <a:srgbClr val="191414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008484" y="5722302"/>
            <a:ext cx="8574607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Okomito Light" panose="020B0604020202020204" charset="-18"/>
              </a:rPr>
              <a:t>Tartalmi </a:t>
            </a:r>
            <a:r>
              <a:rPr lang="en-US" sz="3600" dirty="0" err="1">
                <a:latin typeface="Okomito Light" panose="020B0604020202020204" charset="-18"/>
              </a:rPr>
              <a:t>terv</a:t>
            </a:r>
            <a:r>
              <a:rPr lang="en-US" sz="3600" dirty="0">
                <a:latin typeface="Okomito Light" panose="020B0604020202020204" charset="-18"/>
              </a:rPr>
              <a:t> - </a:t>
            </a:r>
            <a:r>
              <a:rPr lang="en-US" sz="3600" dirty="0" err="1">
                <a:latin typeface="Okomito Light" panose="020B0604020202020204" charset="-18"/>
              </a:rPr>
              <a:t>témák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Oldalszerkezet</a:t>
            </a:r>
            <a:r>
              <a:rPr lang="en-US" sz="3600" dirty="0">
                <a:latin typeface="Okomito Light" panose="020B0604020202020204" charset="-18"/>
              </a:rPr>
              <a:t>: </a:t>
            </a:r>
            <a:r>
              <a:rPr lang="hu-HU" sz="3600" dirty="0">
                <a:latin typeface="Okomito Light" panose="020B0604020202020204" charset="-18"/>
              </a:rPr>
              <a:t>1 </a:t>
            </a:r>
            <a:r>
              <a:rPr lang="en-US" sz="3600" dirty="0" err="1">
                <a:latin typeface="Okomito Light" panose="020B0604020202020204" charset="-18"/>
              </a:rPr>
              <a:t>főoldal</a:t>
            </a:r>
            <a:r>
              <a:rPr lang="en-US" sz="3600" dirty="0">
                <a:latin typeface="Okomito Light" panose="020B0604020202020204" charset="-18"/>
              </a:rPr>
              <a:t> + 3 </a:t>
            </a:r>
            <a:r>
              <a:rPr lang="en-US" sz="3600" dirty="0" err="1">
                <a:latin typeface="Okomito Light" panose="020B0604020202020204" charset="-18"/>
              </a:rPr>
              <a:t>leíró</a:t>
            </a:r>
            <a:r>
              <a:rPr lang="en-US" sz="3600" dirty="0">
                <a:latin typeface="Okomito Light" panose="020B0604020202020204" charset="-18"/>
              </a:rPr>
              <a:t> </a:t>
            </a:r>
            <a:r>
              <a:rPr lang="en-US" sz="3600" dirty="0" err="1">
                <a:latin typeface="Okomito Light" panose="020B0604020202020204" charset="-18"/>
              </a:rPr>
              <a:t>oldal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Navigáció</a:t>
            </a:r>
            <a:r>
              <a:rPr lang="en-US" sz="3600" dirty="0">
                <a:latin typeface="Okomito Light" panose="020B0604020202020204" charset="-18"/>
              </a:rPr>
              <a:t>: </a:t>
            </a:r>
            <a:r>
              <a:rPr lang="en-US" sz="3600" dirty="0" err="1">
                <a:latin typeface="Okomito Light" panose="020B0604020202020204" charset="-18"/>
              </a:rPr>
              <a:t>egységes</a:t>
            </a:r>
            <a:r>
              <a:rPr lang="en-US" sz="3600" dirty="0">
                <a:latin typeface="Okomito Light" panose="020B0604020202020204" charset="-18"/>
              </a:rPr>
              <a:t> </a:t>
            </a:r>
            <a:r>
              <a:rPr lang="en-US" sz="3600" dirty="0" err="1">
                <a:latin typeface="Okomito Light" panose="020B0604020202020204" charset="-18"/>
              </a:rPr>
              <a:t>menü</a:t>
            </a:r>
            <a:endParaRPr lang="en-US" sz="3600" dirty="0">
              <a:latin typeface="Okomito Light" panose="020B0604020202020204" charset="-18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6274843" y="4051804"/>
            <a:ext cx="2681811" cy="0"/>
          </a:xfrm>
          <a:prstGeom prst="line">
            <a:avLst/>
          </a:prstGeom>
          <a:ln w="28575" cap="flat">
            <a:solidFill>
              <a:srgbClr val="D310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7B58218-23B3-7CC0-4EE0-AF1BF8EB8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-304526" y="713589"/>
            <a:ext cx="9647590" cy="5429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6239247" y="7505700"/>
            <a:ext cx="2048753" cy="2048753"/>
          </a:xfrm>
          <a:custGeom>
            <a:avLst/>
            <a:gdLst/>
            <a:ahLst/>
            <a:cxnLst/>
            <a:rect l="l" t="t" r="r" b="b"/>
            <a:pathLst>
              <a:path w="2048753" h="2048753">
                <a:moveTo>
                  <a:pt x="0" y="0"/>
                </a:moveTo>
                <a:lnTo>
                  <a:pt x="2048753" y="0"/>
                </a:lnTo>
                <a:lnTo>
                  <a:pt x="2048753" y="2048753"/>
                </a:lnTo>
                <a:lnTo>
                  <a:pt x="0" y="20487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u-HU"/>
          </a:p>
        </p:txBody>
      </p:sp>
      <p:sp>
        <p:nvSpPr>
          <p:cNvPr id="22" name="TextBox 22"/>
          <p:cNvSpPr txBox="1"/>
          <p:nvPr/>
        </p:nvSpPr>
        <p:spPr>
          <a:xfrm>
            <a:off x="1002605" y="2216904"/>
            <a:ext cx="7866279" cy="1019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hu-HU" sz="7499" b="1" i="1" dirty="0">
                <a:solidFill>
                  <a:srgbClr val="191414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MEGVALÓSÍTÁS</a:t>
            </a:r>
            <a:endParaRPr lang="en-US" sz="7499" b="1" i="1" dirty="0">
              <a:solidFill>
                <a:srgbClr val="191414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0C622C39-316A-117D-E1D7-7655D8B0E264}"/>
              </a:ext>
            </a:extLst>
          </p:cNvPr>
          <p:cNvSpPr txBox="1"/>
          <p:nvPr/>
        </p:nvSpPr>
        <p:spPr>
          <a:xfrm>
            <a:off x="1002605" y="3467100"/>
            <a:ext cx="4352181" cy="33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2"/>
              </a:lnSpc>
              <a:spcBef>
                <a:spcPct val="0"/>
              </a:spcBef>
            </a:pPr>
            <a:r>
              <a:rPr lang="hu-HU" sz="3200" b="1" i="1" dirty="0">
                <a:solidFill>
                  <a:srgbClr val="D3101F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A kezdőlap felépítése</a:t>
            </a:r>
            <a:endParaRPr lang="en-US" sz="3200" b="1" i="1" dirty="0">
              <a:solidFill>
                <a:srgbClr val="D3101F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pic>
        <p:nvPicPr>
          <p:cNvPr id="36" name="Kép 35">
            <a:extLst>
              <a:ext uri="{FF2B5EF4-FFF2-40B4-BE49-F238E27FC236}">
                <a16:creationId xmlns:a16="http://schemas.microsoft.com/office/drawing/2014/main" id="{8F5283F5-CDC4-D2F3-3E3A-7CE6E9AB9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3693" y="944778"/>
            <a:ext cx="7996259" cy="36730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8" name="Kép 37">
            <a:extLst>
              <a:ext uri="{FF2B5EF4-FFF2-40B4-BE49-F238E27FC236}">
                <a16:creationId xmlns:a16="http://schemas.microsoft.com/office/drawing/2014/main" id="{5A776F9C-50AA-2FC2-2154-E256F4075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5335230"/>
            <a:ext cx="7035141" cy="43409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" name="Szövegdoboz 39">
            <a:extLst>
              <a:ext uri="{FF2B5EF4-FFF2-40B4-BE49-F238E27FC236}">
                <a16:creationId xmlns:a16="http://schemas.microsoft.com/office/drawing/2014/main" id="{B272ECD4-03C9-0B48-BD38-DC1C6E20645E}"/>
              </a:ext>
            </a:extLst>
          </p:cNvPr>
          <p:cNvSpPr txBox="1"/>
          <p:nvPr/>
        </p:nvSpPr>
        <p:spPr>
          <a:xfrm>
            <a:off x="1002605" y="4914900"/>
            <a:ext cx="3200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Cím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Menü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Készítők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Képek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Bevezetés</a:t>
            </a:r>
            <a:endParaRPr lang="en-US" sz="3600" dirty="0">
              <a:latin typeface="Okomito Light" panose="020B0604020202020204" charset="-1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186160"/>
            <a:ext cx="3702119" cy="0"/>
          </a:xfrm>
          <a:prstGeom prst="line">
            <a:avLst/>
          </a:prstGeom>
          <a:ln w="28575" cap="flat">
            <a:solidFill>
              <a:srgbClr val="D310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Box 22">
            <a:extLst>
              <a:ext uri="{FF2B5EF4-FFF2-40B4-BE49-F238E27FC236}">
                <a16:creationId xmlns:a16="http://schemas.microsoft.com/office/drawing/2014/main" id="{7DA405AD-ED62-9962-7038-B95C21ACDD3E}"/>
              </a:ext>
            </a:extLst>
          </p:cNvPr>
          <p:cNvSpPr txBox="1"/>
          <p:nvPr/>
        </p:nvSpPr>
        <p:spPr>
          <a:xfrm>
            <a:off x="1002605" y="2216904"/>
            <a:ext cx="7866279" cy="1019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hu-HU" sz="7499" b="1" i="1" dirty="0">
                <a:solidFill>
                  <a:srgbClr val="191414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MEGVALÓSÍTÁS</a:t>
            </a:r>
            <a:endParaRPr lang="en-US" sz="7499" b="1" i="1" dirty="0">
              <a:solidFill>
                <a:srgbClr val="191414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D034B51C-BD94-44B8-AB9B-EDCE9527466D}"/>
              </a:ext>
            </a:extLst>
          </p:cNvPr>
          <p:cNvSpPr txBox="1"/>
          <p:nvPr/>
        </p:nvSpPr>
        <p:spPr>
          <a:xfrm>
            <a:off x="1002605" y="3467100"/>
            <a:ext cx="5960768" cy="334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2"/>
              </a:lnSpc>
              <a:spcBef>
                <a:spcPct val="0"/>
              </a:spcBef>
            </a:pPr>
            <a:r>
              <a:rPr lang="hu-HU" sz="3200" b="1" i="1" dirty="0">
                <a:solidFill>
                  <a:srgbClr val="D3101F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A leíró oldalak felépítése</a:t>
            </a:r>
            <a:endParaRPr lang="en-US" sz="3200" b="1" i="1" dirty="0">
              <a:solidFill>
                <a:srgbClr val="D3101F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F495F4C2-55B4-0F63-B5C6-445107C3BCD9}"/>
              </a:ext>
            </a:extLst>
          </p:cNvPr>
          <p:cNvSpPr txBox="1"/>
          <p:nvPr/>
        </p:nvSpPr>
        <p:spPr>
          <a:xfrm>
            <a:off x="1002605" y="4914900"/>
            <a:ext cx="3200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Cím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Menü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Leírás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Képek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Teszt</a:t>
            </a:r>
            <a:endParaRPr lang="hu-HU" sz="3600" dirty="0">
              <a:latin typeface="Okomito Light" panose="020B0604020202020204" charset="-18"/>
            </a:endParaRPr>
          </a:p>
        </p:txBody>
      </p:sp>
      <p:pic>
        <p:nvPicPr>
          <p:cNvPr id="43" name="Kép 42">
            <a:extLst>
              <a:ext uri="{FF2B5EF4-FFF2-40B4-BE49-F238E27FC236}">
                <a16:creationId xmlns:a16="http://schemas.microsoft.com/office/drawing/2014/main" id="{4B91E512-EC40-5AEC-4F49-5CD0C6F4D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5148943"/>
            <a:ext cx="9496157" cy="43963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5" name="Kép 44">
            <a:extLst>
              <a:ext uri="{FF2B5EF4-FFF2-40B4-BE49-F238E27FC236}">
                <a16:creationId xmlns:a16="http://schemas.microsoft.com/office/drawing/2014/main" id="{75EB4282-275C-6519-3AA0-75C25DAD2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118" y="1181100"/>
            <a:ext cx="7387413" cy="34436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 rot="-5400000" flipV="1">
            <a:off x="15931849" y="1059261"/>
            <a:ext cx="2901033" cy="2901033"/>
          </a:xfrm>
          <a:custGeom>
            <a:avLst/>
            <a:gdLst/>
            <a:ahLst/>
            <a:cxnLst/>
            <a:rect l="l" t="t" r="r" b="b"/>
            <a:pathLst>
              <a:path w="2901033" h="2901033">
                <a:moveTo>
                  <a:pt x="0" y="2901032"/>
                </a:moveTo>
                <a:lnTo>
                  <a:pt x="2901033" y="2901032"/>
                </a:lnTo>
                <a:lnTo>
                  <a:pt x="2901033" y="0"/>
                </a:lnTo>
                <a:lnTo>
                  <a:pt x="0" y="0"/>
                </a:lnTo>
                <a:lnTo>
                  <a:pt x="0" y="29010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u-HU" dirty="0"/>
          </a:p>
        </p:txBody>
      </p:sp>
      <p:sp>
        <p:nvSpPr>
          <p:cNvPr id="12" name="TextBox 12"/>
          <p:cNvSpPr txBox="1"/>
          <p:nvPr/>
        </p:nvSpPr>
        <p:spPr>
          <a:xfrm>
            <a:off x="8931529" y="1790700"/>
            <a:ext cx="7000320" cy="1994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hu-HU" sz="7499" b="1" i="1" dirty="0">
                <a:solidFill>
                  <a:srgbClr val="191414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A TESZT BEMUTATÁSA</a:t>
            </a:r>
            <a:endParaRPr lang="en-US" sz="7499" b="1" i="1" dirty="0">
              <a:solidFill>
                <a:srgbClr val="191414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pic>
        <p:nvPicPr>
          <p:cNvPr id="20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C04CBDAF-076D-E6B8-6BBB-F7F9D36EA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330"/>
            <a:ext cx="7852631" cy="103033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Szövegdoboz 21">
            <a:extLst>
              <a:ext uri="{FF2B5EF4-FFF2-40B4-BE49-F238E27FC236}">
                <a16:creationId xmlns:a16="http://schemas.microsoft.com/office/drawing/2014/main" id="{E49CAD86-7887-5FED-D87B-14785AA3669E}"/>
              </a:ext>
            </a:extLst>
          </p:cNvPr>
          <p:cNvSpPr txBox="1"/>
          <p:nvPr/>
        </p:nvSpPr>
        <p:spPr>
          <a:xfrm>
            <a:off x="8931529" y="5448300"/>
            <a:ext cx="8610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Okomito Light" panose="020B0604020202020204" charset="-18"/>
              </a:rPr>
              <a:t>Teszt </a:t>
            </a:r>
            <a:r>
              <a:rPr lang="en-US" sz="3600" dirty="0" err="1">
                <a:latin typeface="Okomito Light" panose="020B0604020202020204" charset="-18"/>
              </a:rPr>
              <a:t>kitöltése</a:t>
            </a:r>
            <a:r>
              <a:rPr lang="en-US" sz="3600" dirty="0">
                <a:latin typeface="Okomito Light" panose="020B0604020202020204" charset="-18"/>
              </a:rPr>
              <a:t> a</a:t>
            </a:r>
            <a:r>
              <a:rPr lang="hu-HU" sz="3600" dirty="0">
                <a:latin typeface="Okomito Light" panose="020B0604020202020204" charset="-18"/>
              </a:rPr>
              <a:t>z olvasottak </a:t>
            </a:r>
            <a:r>
              <a:rPr lang="en-US" sz="3600" dirty="0" err="1">
                <a:latin typeface="Okomito Light" panose="020B0604020202020204" charset="-18"/>
              </a:rPr>
              <a:t>alapján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Okomito Light" panose="020B0604020202020204" charset="-18"/>
              </a:rPr>
              <a:t>Válasz </a:t>
            </a:r>
            <a:r>
              <a:rPr lang="en-US" sz="3600" dirty="0" err="1">
                <a:latin typeface="Okomito Light" panose="020B0604020202020204" charset="-18"/>
              </a:rPr>
              <a:t>begépelése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Ellenőrzés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Okomito Light" panose="020B0604020202020204" charset="-18"/>
              </a:rPr>
              <a:t>Visszajelzés</a:t>
            </a:r>
            <a:r>
              <a:rPr lang="en-US" sz="3600" dirty="0">
                <a:latin typeface="Okomito Light" panose="020B0604020202020204" charset="-18"/>
              </a:rPr>
              <a:t> </a:t>
            </a:r>
            <a:r>
              <a:rPr lang="en-US" sz="3600" dirty="0" err="1">
                <a:latin typeface="Okomito Light" panose="020B0604020202020204" charset="-18"/>
              </a:rPr>
              <a:t>az</a:t>
            </a:r>
            <a:r>
              <a:rPr lang="en-US" sz="3600" dirty="0">
                <a:latin typeface="Okomito Light" panose="020B0604020202020204" charset="-18"/>
              </a:rPr>
              <a:t> </a:t>
            </a:r>
            <a:r>
              <a:rPr lang="en-US" sz="3600" dirty="0" err="1">
                <a:latin typeface="Okomito Light" panose="020B0604020202020204" charset="-18"/>
              </a:rPr>
              <a:t>eredmény</a:t>
            </a:r>
            <a:r>
              <a:rPr lang="en-US" sz="3600" dirty="0">
                <a:latin typeface="Okomito Light" panose="020B0604020202020204" charset="-18"/>
              </a:rPr>
              <a:t> </a:t>
            </a:r>
            <a:r>
              <a:rPr lang="en-US" sz="3600" dirty="0" err="1">
                <a:latin typeface="Okomito Light" panose="020B0604020202020204" charset="-18"/>
              </a:rPr>
              <a:t>alapján</a:t>
            </a:r>
            <a:endParaRPr lang="en-US" sz="3600" dirty="0">
              <a:latin typeface="Okomito Light" panose="020B0604020202020204" charset="-1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Okomito Light" panose="020B0604020202020204" charset="-18"/>
              </a:rPr>
              <a:t>JavaScript</a:t>
            </a:r>
            <a:r>
              <a:rPr lang="hu-HU" sz="3600" dirty="0">
                <a:latin typeface="Okomito Light" panose="020B0604020202020204" charset="-18"/>
              </a:rPr>
              <a:t> a HTML-en belül</a:t>
            </a:r>
            <a:endParaRPr lang="en-US" sz="3600" dirty="0">
              <a:latin typeface="Okomito Light" panose="020B0604020202020204" charset="-1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0" y="2179436"/>
            <a:ext cx="4502675" cy="4502675"/>
          </a:xfrm>
          <a:custGeom>
            <a:avLst/>
            <a:gdLst/>
            <a:ahLst/>
            <a:cxnLst/>
            <a:rect l="l" t="t" r="r" b="b"/>
            <a:pathLst>
              <a:path w="4502675" h="4502675">
                <a:moveTo>
                  <a:pt x="0" y="0"/>
                </a:moveTo>
                <a:lnTo>
                  <a:pt x="4502675" y="0"/>
                </a:lnTo>
                <a:lnTo>
                  <a:pt x="4502675" y="4502675"/>
                </a:lnTo>
                <a:lnTo>
                  <a:pt x="0" y="4502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u-HU"/>
          </a:p>
        </p:txBody>
      </p:sp>
      <p:sp>
        <p:nvSpPr>
          <p:cNvPr id="3" name="AutoShape 3"/>
          <p:cNvSpPr/>
          <p:nvPr/>
        </p:nvSpPr>
        <p:spPr>
          <a:xfrm>
            <a:off x="15697200" y="1816274"/>
            <a:ext cx="2848409" cy="0"/>
          </a:xfrm>
          <a:prstGeom prst="line">
            <a:avLst/>
          </a:prstGeom>
          <a:ln w="28575" cap="flat">
            <a:solidFill>
              <a:srgbClr val="D310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Box 7"/>
          <p:cNvSpPr txBox="1"/>
          <p:nvPr/>
        </p:nvSpPr>
        <p:spPr>
          <a:xfrm>
            <a:off x="5943600" y="1882951"/>
            <a:ext cx="11446404" cy="1994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hu-HU" sz="7499" b="1" i="1" dirty="0">
                <a:solidFill>
                  <a:srgbClr val="191414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DIZÁJN ÉS FELHASZNÁLÓI ÉLMÉNY</a:t>
            </a:r>
            <a:endParaRPr lang="en-US" sz="7499" b="1" i="1" dirty="0">
              <a:solidFill>
                <a:srgbClr val="191414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pic>
        <p:nvPicPr>
          <p:cNvPr id="3074" name="Picture 2" descr="Ferrari F1 PNG, Vector, PSD, and Clipart With Transparent ...">
            <a:extLst>
              <a:ext uri="{FF2B5EF4-FFF2-40B4-BE49-F238E27FC236}">
                <a16:creationId xmlns:a16="http://schemas.microsoft.com/office/drawing/2014/main" id="{1D26A3D5-77F6-EDE1-EDF1-2CA756BAD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56508">
            <a:off x="-1021299" y="2624560"/>
            <a:ext cx="7393144" cy="739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Szövegdoboz 39">
            <a:extLst>
              <a:ext uri="{FF2B5EF4-FFF2-40B4-BE49-F238E27FC236}">
                <a16:creationId xmlns:a16="http://schemas.microsoft.com/office/drawing/2014/main" id="{B39B96FA-6A5A-9876-24E8-175F00DC080A}"/>
              </a:ext>
            </a:extLst>
          </p:cNvPr>
          <p:cNvSpPr txBox="1"/>
          <p:nvPr/>
        </p:nvSpPr>
        <p:spPr>
          <a:xfrm>
            <a:off x="7086600" y="4430773"/>
            <a:ext cx="7772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Okomito Light" panose="020B0604020202020204" charset="-18"/>
              </a:rPr>
              <a:t>Áttekinthető</a:t>
            </a:r>
            <a:endParaRPr lang="hu-HU" sz="3600" dirty="0">
              <a:latin typeface="Okomito Light" panose="020B0604020202020204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 dirty="0">
                <a:latin typeface="Okomito Light" panose="020B0604020202020204" charset="-18"/>
              </a:rPr>
              <a:t>Egységes dizájn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 dirty="0">
                <a:latin typeface="Okomito Light" panose="020B0604020202020204" charset="-18"/>
              </a:rPr>
              <a:t>Témához illő képek/színek/betűk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 dirty="0">
                <a:latin typeface="Okomito Light" panose="020B0604020202020204" charset="-18"/>
              </a:rPr>
              <a:t>Egyszerű navigáció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 dirty="0">
                <a:latin typeface="Okomito Light" panose="020B0604020202020204" charset="-18"/>
              </a:rPr>
              <a:t>Nem reszponzív</a:t>
            </a:r>
            <a:endParaRPr lang="en-US" sz="3600" dirty="0" err="1">
              <a:latin typeface="Okomito Light" panose="020B0604020202020204" charset="-1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6110" y="2116122"/>
            <a:ext cx="9354662" cy="101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4"/>
              </a:lnSpc>
            </a:pPr>
            <a:r>
              <a:rPr lang="hu-HU" sz="7499" b="1" i="1" dirty="0">
                <a:solidFill>
                  <a:srgbClr val="191414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ÖSSZEGZÉS</a:t>
            </a:r>
            <a:endParaRPr lang="en-US" sz="7499" b="1" i="1" dirty="0">
              <a:solidFill>
                <a:srgbClr val="191414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36463" y="4073458"/>
            <a:ext cx="10153956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600" dirty="0">
                <a:latin typeface="Okomito Light" panose="020B0604020202020204" charset="-18"/>
              </a:rPr>
              <a:t>Végeredmény a követelményeknek megfelelően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600" dirty="0">
                <a:latin typeface="Okomito Light" panose="020B0604020202020204" charset="-18"/>
              </a:rPr>
              <a:t>Terveinket beteljesítettük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600" dirty="0">
                <a:latin typeface="Okomito Light" panose="020B0604020202020204" charset="-18"/>
              </a:rPr>
              <a:t>Webfejlesztési ismeretek elsajátítása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600" dirty="0">
                <a:latin typeface="Okomito Light" panose="020B0604020202020204" charset="-18"/>
              </a:rPr>
              <a:t>Működő + áttekinthető weboldalak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600" dirty="0">
                <a:latin typeface="Okomito Light" panose="020B0604020202020204" charset="-18"/>
              </a:rPr>
              <a:t>Kihívások/problémák megoldása</a:t>
            </a:r>
            <a:endParaRPr lang="en-US" sz="3200" dirty="0">
              <a:solidFill>
                <a:srgbClr val="191414"/>
              </a:solidFill>
              <a:latin typeface="Okomito Light" panose="020B0604020202020204" charset="-18"/>
              <a:ea typeface="Okomito Light"/>
              <a:cs typeface="Okomito Light"/>
              <a:sym typeface="Okomito Light"/>
            </a:endParaRPr>
          </a:p>
        </p:txBody>
      </p:sp>
      <p:sp>
        <p:nvSpPr>
          <p:cNvPr id="4" name="Freeform 4"/>
          <p:cNvSpPr/>
          <p:nvPr/>
        </p:nvSpPr>
        <p:spPr>
          <a:xfrm rot="-5400000" flipH="1" flipV="1">
            <a:off x="13547373" y="1973247"/>
            <a:ext cx="4798410" cy="4798410"/>
          </a:xfrm>
          <a:custGeom>
            <a:avLst/>
            <a:gdLst/>
            <a:ahLst/>
            <a:cxnLst/>
            <a:rect l="l" t="t" r="r" b="b"/>
            <a:pathLst>
              <a:path w="4798410" h="4798410">
                <a:moveTo>
                  <a:pt x="4798410" y="4798409"/>
                </a:moveTo>
                <a:lnTo>
                  <a:pt x="0" y="4798409"/>
                </a:lnTo>
                <a:lnTo>
                  <a:pt x="0" y="0"/>
                </a:lnTo>
                <a:lnTo>
                  <a:pt x="4798410" y="0"/>
                </a:lnTo>
                <a:lnTo>
                  <a:pt x="4798410" y="47984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u-HU"/>
          </a:p>
        </p:txBody>
      </p:sp>
      <p:sp>
        <p:nvSpPr>
          <p:cNvPr id="13" name="AutoShape 13"/>
          <p:cNvSpPr/>
          <p:nvPr/>
        </p:nvSpPr>
        <p:spPr>
          <a:xfrm>
            <a:off x="-257597" y="3467100"/>
            <a:ext cx="4128898" cy="0"/>
          </a:xfrm>
          <a:prstGeom prst="line">
            <a:avLst/>
          </a:prstGeom>
          <a:ln w="28575" cap="flat">
            <a:solidFill>
              <a:srgbClr val="D310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63E1A2E-219D-F906-D2E4-172FE1B73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372600" y="2625845"/>
            <a:ext cx="9125583" cy="607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37482" y="8354895"/>
            <a:ext cx="6292805" cy="1932105"/>
            <a:chOff x="0" y="0"/>
            <a:chExt cx="1738309" cy="533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309" cy="533720"/>
            </a:xfrm>
            <a:custGeom>
              <a:avLst/>
              <a:gdLst/>
              <a:ahLst/>
              <a:cxnLst/>
              <a:rect l="l" t="t" r="r" b="b"/>
              <a:pathLst>
                <a:path w="1738309" h="533720">
                  <a:moveTo>
                    <a:pt x="0" y="0"/>
                  </a:moveTo>
                  <a:lnTo>
                    <a:pt x="1738309" y="0"/>
                  </a:lnTo>
                  <a:lnTo>
                    <a:pt x="1738309" y="533720"/>
                  </a:lnTo>
                  <a:lnTo>
                    <a:pt x="0" y="533720"/>
                  </a:lnTo>
                  <a:close/>
                </a:path>
              </a:pathLst>
            </a:custGeom>
            <a:solidFill>
              <a:srgbClr val="D3101F"/>
            </a:solidFill>
          </p:spPr>
          <p:txBody>
            <a:bodyPr/>
            <a:lstStyle/>
            <a:p>
              <a:endParaRPr lang="hu-H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38309" cy="57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9837482" y="2217369"/>
            <a:ext cx="6292805" cy="6292805"/>
          </a:xfrm>
          <a:custGeom>
            <a:avLst/>
            <a:gdLst/>
            <a:ahLst/>
            <a:cxnLst/>
            <a:rect l="l" t="t" r="r" b="b"/>
            <a:pathLst>
              <a:path w="6292805" h="6292805">
                <a:moveTo>
                  <a:pt x="0" y="0"/>
                </a:moveTo>
                <a:lnTo>
                  <a:pt x="6292805" y="0"/>
                </a:lnTo>
                <a:lnTo>
                  <a:pt x="6292805" y="6292805"/>
                </a:lnTo>
                <a:lnTo>
                  <a:pt x="0" y="6292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u-HU"/>
          </a:p>
        </p:txBody>
      </p:sp>
      <p:grpSp>
        <p:nvGrpSpPr>
          <p:cNvPr id="9" name="Group 9"/>
          <p:cNvGrpSpPr/>
          <p:nvPr/>
        </p:nvGrpSpPr>
        <p:grpSpPr>
          <a:xfrm>
            <a:off x="914400" y="5600700"/>
            <a:ext cx="1059216" cy="802144"/>
            <a:chOff x="0" y="0"/>
            <a:chExt cx="928430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28430" cy="609600"/>
            </a:xfrm>
            <a:custGeom>
              <a:avLst/>
              <a:gdLst/>
              <a:ahLst/>
              <a:cxnLst/>
              <a:rect l="l" t="t" r="r" b="b"/>
              <a:pathLst>
                <a:path w="928430" h="609600">
                  <a:moveTo>
                    <a:pt x="203200" y="0"/>
                  </a:moveTo>
                  <a:lnTo>
                    <a:pt x="928430" y="0"/>
                  </a:lnTo>
                  <a:lnTo>
                    <a:pt x="72523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3101F"/>
            </a:solidFill>
          </p:spPr>
          <p:txBody>
            <a:bodyPr/>
            <a:lstStyle/>
            <a:p>
              <a:endParaRPr lang="hu-HU" u="sn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72523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u="sng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157593" y="5740208"/>
            <a:ext cx="572829" cy="523127"/>
          </a:xfrm>
          <a:custGeom>
            <a:avLst/>
            <a:gdLst/>
            <a:ahLst/>
            <a:cxnLst/>
            <a:rect l="l" t="t" r="r" b="b"/>
            <a:pathLst>
              <a:path w="255211" h="242769">
                <a:moveTo>
                  <a:pt x="0" y="0"/>
                </a:moveTo>
                <a:lnTo>
                  <a:pt x="255211" y="0"/>
                </a:lnTo>
                <a:lnTo>
                  <a:pt x="255211" y="242769"/>
                </a:lnTo>
                <a:lnTo>
                  <a:pt x="0" y="2427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u-HU" u="sng"/>
          </a:p>
        </p:txBody>
      </p:sp>
      <p:sp>
        <p:nvSpPr>
          <p:cNvPr id="19" name="TextBox 19"/>
          <p:cNvSpPr txBox="1"/>
          <p:nvPr/>
        </p:nvSpPr>
        <p:spPr>
          <a:xfrm>
            <a:off x="936577" y="2750379"/>
            <a:ext cx="7886700" cy="2388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91"/>
              </a:lnSpc>
            </a:pPr>
            <a:r>
              <a:rPr lang="hu-HU" sz="9001" b="1" i="1" dirty="0">
                <a:solidFill>
                  <a:srgbClr val="191414"/>
                </a:solidFill>
                <a:latin typeface="Anantason Bold Italics"/>
                <a:ea typeface="Anantason Bold Italics"/>
                <a:cs typeface="Anantason Bold Italics"/>
                <a:sym typeface="Anantason Bold Italics"/>
              </a:rPr>
              <a:t>KÖSZÖNJÜK A FIGYELMET!</a:t>
            </a:r>
            <a:endParaRPr lang="en-US" sz="9001" b="1" i="1" dirty="0">
              <a:solidFill>
                <a:srgbClr val="191414"/>
              </a:solidFill>
              <a:latin typeface="Anantason Bold Italics"/>
              <a:ea typeface="Anantason Bold Italics"/>
              <a:cs typeface="Anantason Bold Italics"/>
              <a:sym typeface="Anantason Bold Italics"/>
            </a:endParaRPr>
          </a:p>
        </p:txBody>
      </p:sp>
      <p:pic>
        <p:nvPicPr>
          <p:cNvPr id="35" name="Picture 2" descr="Download Classic Red Ferrari F1 Racer | Wallpapers.com">
            <a:extLst>
              <a:ext uri="{FF2B5EF4-FFF2-40B4-BE49-F238E27FC236}">
                <a16:creationId xmlns:a16="http://schemas.microsoft.com/office/drawing/2014/main" id="{2480850C-55D0-6447-517B-8129C086F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262" y="4762500"/>
            <a:ext cx="9086561" cy="6214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Szövegdoboz 35">
            <a:extLst>
              <a:ext uri="{FF2B5EF4-FFF2-40B4-BE49-F238E27FC236}">
                <a16:creationId xmlns:a16="http://schemas.microsoft.com/office/drawing/2014/main" id="{1F736D41-B68A-F6C1-8F2F-BACC9FC63F5F}"/>
              </a:ext>
            </a:extLst>
          </p:cNvPr>
          <p:cNvSpPr txBox="1"/>
          <p:nvPr/>
        </p:nvSpPr>
        <p:spPr>
          <a:xfrm>
            <a:off x="1994172" y="5770938"/>
            <a:ext cx="6997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>
                <a:latin typeface="Okomito Light" panose="020B0604020202020204" charset="-18"/>
              </a:rPr>
              <a:t>https://github.com/nagymark002/F1-projektmunka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144</Words>
  <Application>Microsoft Office PowerPoint</Application>
  <PresentationFormat>Egyéni</PresentationFormat>
  <Paragraphs>45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Okomito Light</vt:lpstr>
      <vt:lpstr>Anantason Bold Italics</vt:lpstr>
      <vt:lpstr>Calibri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White Minimalist Automotive Vehicle Showcase Presentation</dc:title>
  <dc:creator>Kovácsné Marcsi</dc:creator>
  <cp:lastModifiedBy>Kovács Mária</cp:lastModifiedBy>
  <cp:revision>14</cp:revision>
  <dcterms:created xsi:type="dcterms:W3CDTF">2006-08-16T00:00:00Z</dcterms:created>
  <dcterms:modified xsi:type="dcterms:W3CDTF">2026-04-27T15:08:55Z</dcterms:modified>
  <dc:identifier>DAHIDczHf5k</dc:identifier>
</cp:coreProperties>
</file>